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0" r:id="rId5"/>
    <p:sldId id="266" r:id="rId6"/>
    <p:sldId id="265"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5" autoAdjust="0"/>
    <p:restoredTop sz="94660"/>
  </p:normalViewPr>
  <p:slideViewPr>
    <p:cSldViewPr snapToGrid="0">
      <p:cViewPr varScale="1">
        <p:scale>
          <a:sx n="106" d="100"/>
          <a:sy n="106" d="100"/>
        </p:scale>
        <p:origin x="111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AD4A-4EBB-6ADB-A365-EE7AFD645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44E975C-D980-AE3B-BB2C-391F5008C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9359BD5-53D6-B808-38E2-FCE9B3A79255}"/>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BD5CBC5F-74D3-E130-7F36-DD0D98423C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D39F37-23D3-9752-F86C-09E71EB9E45D}"/>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06256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B8BBA-E328-AECE-BA6A-7D6D4A89BB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C8DAC0-74AC-2FBF-AFFF-47043C3B49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7B2C6D-76D5-BB33-6F58-70DEC92B80A9}"/>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28967E11-8C19-7970-A6BC-7DA02BB1F6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F2793DB-815D-8F29-2AA9-82A9CA38EEB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906172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F0D5-0BDB-15FD-9815-6D0143D48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8AFADD-5DC7-53D3-7A37-4B5BD66EBE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EE007-7660-A360-2BAB-F6A521929E37}"/>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B33D66EF-25DB-451F-2EAA-1A5DAFCDD4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9BA2A4-A5AC-80D5-6B6F-23BAEB0C7B7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96865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FA-D3E2-E3AE-F5CA-31F065E36F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BA184B6-F231-DF06-A9A2-DDC27BDDCF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85A502-F963-8EEE-0DF9-562A91935D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7DF0E4-FB2F-C7A7-9645-DB40556891DC}"/>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F186677A-A2E7-E431-87D2-806A0DF38F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D689F4-FFA2-6AE0-9E19-2A7D3E418A5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861650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A634-5FB7-E545-4953-5D68C1AFA51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308C17-4D48-DE72-AB2F-FCA0C0096F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60C8C1-2F7D-BC04-697D-E259E6AE8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A4607A6-79AD-83B5-75FD-B9303BE68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00AB47-4103-549A-920C-0FC118F755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E727A17-EBB9-0B60-8402-DCF5C9824512}"/>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8" name="Footer Placeholder 7">
            <a:extLst>
              <a:ext uri="{FF2B5EF4-FFF2-40B4-BE49-F238E27FC236}">
                <a16:creationId xmlns:a16="http://schemas.microsoft.com/office/drawing/2014/main" id="{ECD884E4-FFCF-DBC5-A3E3-1C3FA883090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D860600-4F1C-5869-E23B-8C888AB16D08}"/>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16774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50F-ABDC-FDFA-A6CD-983234F791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4AE578-365A-E84A-C4AB-FE120561677C}"/>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4" name="Footer Placeholder 3">
            <a:extLst>
              <a:ext uri="{FF2B5EF4-FFF2-40B4-BE49-F238E27FC236}">
                <a16:creationId xmlns:a16="http://schemas.microsoft.com/office/drawing/2014/main" id="{6F9FB5FC-16F2-2023-0888-D05A4CA4AA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8E76C7-CAB1-5FFD-865D-E79649A8A93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69633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B9A5A-5912-72FF-8A96-6C565893B5C2}"/>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3" name="Footer Placeholder 2">
            <a:extLst>
              <a:ext uri="{FF2B5EF4-FFF2-40B4-BE49-F238E27FC236}">
                <a16:creationId xmlns:a16="http://schemas.microsoft.com/office/drawing/2014/main" id="{A4CA5902-E1AC-B68D-9662-70BE38E20A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9FEC12-2DD4-83FB-285F-018B97147AFE}"/>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86801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DF68-CC8D-B0A1-9B35-D860B2E98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E344A83-102B-ED7C-84F2-629CF9E14D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7BC9BA5-2CFB-A03C-6071-A347ED640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A851F-ACF4-F726-01A5-7E3B8632CD46}"/>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69F5796C-0F04-7F19-C388-CFE0D182A1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EF2F31-B6C4-8F50-5D8D-186A1D5DED7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58509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78F0-D8C0-7F3D-61F3-B36BFBD97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45D9B34-90C3-8366-89A7-32BB707BD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BD9582C-FC26-B990-3415-081A3E5F1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33AFE0-23E6-EBC1-E4F9-8EDC87FFCCC4}"/>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D2190479-6BD7-7447-0D0D-FD8611D20E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1EFD0-3EF8-A89B-B673-310A1C6F38E0}"/>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34071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0975-0023-EAF1-CE9B-AEF5E68662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8A7D41-FFBF-0F3B-0BB7-6BD302298D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FDCA12-96E4-485A-3379-1038E8282346}"/>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FA4538AD-E4C4-9423-585D-21D2B98A2C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2F24D6-F2A6-7721-2DD3-0CF8BE8C5A0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688645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33675-13C7-70F6-38C9-4958F23974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ACF152B-A0FD-DDAE-5253-BB1FFAD12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923621-80A4-0899-B7E8-42207934FB8D}"/>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55C0AD4E-A3D1-20F6-DA33-2717FDA886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09A57A-1748-48B3-D44D-6CE57DAE86A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983317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3601E9-27EB-77F7-73F1-B0C05E9B3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9A4690-6F9E-3113-13E1-2D4422B2E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E2EDF7-1391-D180-B70C-5160FF97D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7C5AF9D3-3854-440A-BE65-170C6BC442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BEE4E57-1110-3CAA-2308-A414A74E07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97242-0D5B-447A-AED5-468E77E7FB99}" type="slidenum">
              <a:rPr lang="en-GB" smtClean="0"/>
              <a:t>‹#›</a:t>
            </a:fld>
            <a:endParaRPr lang="en-GB"/>
          </a:p>
        </p:txBody>
      </p:sp>
    </p:spTree>
    <p:extLst>
      <p:ext uri="{BB962C8B-B14F-4D97-AF65-F5344CB8AC3E}">
        <p14:creationId xmlns:p14="http://schemas.microsoft.com/office/powerpoint/2010/main" val="662862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436B-BD85-2FEE-53E3-34A13B4B731F}"/>
              </a:ext>
            </a:extLst>
          </p:cNvPr>
          <p:cNvSpPr>
            <a:spLocks noGrp="1"/>
          </p:cNvSpPr>
          <p:nvPr>
            <p:ph type="ctrTitle"/>
          </p:nvPr>
        </p:nvSpPr>
        <p:spPr/>
        <p:txBody>
          <a:bodyPr/>
          <a:lstStyle/>
          <a:p>
            <a:r>
              <a:rPr lang="en-GB" dirty="0"/>
              <a:t>Lyra - amendments</a:t>
            </a:r>
          </a:p>
        </p:txBody>
      </p:sp>
      <p:sp>
        <p:nvSpPr>
          <p:cNvPr id="3" name="Subtitle 2">
            <a:extLst>
              <a:ext uri="{FF2B5EF4-FFF2-40B4-BE49-F238E27FC236}">
                <a16:creationId xmlns:a16="http://schemas.microsoft.com/office/drawing/2014/main" id="{CB9E9B14-29C5-96E2-92D2-14DF7B98151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2351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CE4C4A-DB7D-0571-FA53-310602EB6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550" y="1853217"/>
            <a:ext cx="8755544" cy="4725215"/>
          </a:xfrm>
          <a:prstGeom prst="rect">
            <a:avLst/>
          </a:prstGeom>
          <a:ln>
            <a:solidFill>
              <a:schemeClr val="accent1"/>
            </a:solidFill>
          </a:ln>
        </p:spPr>
      </p:pic>
      <p:sp>
        <p:nvSpPr>
          <p:cNvPr id="4" name="TextBox 3">
            <a:extLst>
              <a:ext uri="{FF2B5EF4-FFF2-40B4-BE49-F238E27FC236}">
                <a16:creationId xmlns:a16="http://schemas.microsoft.com/office/drawing/2014/main" id="{A6C59925-746B-A53A-12C3-C84007DC7DE5}"/>
              </a:ext>
            </a:extLst>
          </p:cNvPr>
          <p:cNvSpPr txBox="1"/>
          <p:nvPr/>
        </p:nvSpPr>
        <p:spPr>
          <a:xfrm>
            <a:off x="298764" y="344032"/>
            <a:ext cx="11425474" cy="1323439"/>
          </a:xfrm>
          <a:prstGeom prst="rect">
            <a:avLst/>
          </a:prstGeom>
          <a:noFill/>
        </p:spPr>
        <p:txBody>
          <a:bodyPr wrap="square" rtlCol="0">
            <a:spAutoFit/>
          </a:bodyPr>
          <a:lstStyle/>
          <a:p>
            <a:r>
              <a:rPr lang="en-GB" sz="1000" dirty="0"/>
              <a:t>Tasks are structured in a hierarchy with no limit to the number of branches.</a:t>
            </a:r>
          </a:p>
          <a:p>
            <a:r>
              <a:rPr lang="en-GB" sz="1000" dirty="0"/>
              <a:t>Tasks can be moved by selecting the task (check box to the left) and dragging and dropping.</a:t>
            </a:r>
          </a:p>
          <a:p>
            <a:r>
              <a:rPr lang="en-GB" sz="1000" dirty="0"/>
              <a:t>If a parent task is moved, the child tasks must move with it.</a:t>
            </a:r>
          </a:p>
          <a:p>
            <a:r>
              <a:rPr lang="en-GB" sz="1000" dirty="0"/>
              <a:t>If a user selects a parent task, the child tasks should be highlighted but not be active unless the user starts to move the task.</a:t>
            </a:r>
          </a:p>
          <a:p>
            <a:r>
              <a:rPr lang="en-GB" sz="1000" dirty="0"/>
              <a:t>If a parent task is marked completed the child tasks % complete fields should be highlighted, user can hit return to make them also marked as completed</a:t>
            </a:r>
          </a:p>
          <a:p>
            <a:r>
              <a:rPr lang="en-GB" sz="1000" dirty="0"/>
              <a:t>Remove the progress bar on the % complete, only show the number</a:t>
            </a:r>
          </a:p>
          <a:p>
            <a:r>
              <a:rPr lang="en-GB" sz="1000" dirty="0"/>
              <a:t>If a parent task is deleted, user should be asked if the child tasks should also be deleted</a:t>
            </a:r>
          </a:p>
          <a:p>
            <a:r>
              <a:rPr lang="en-GB" sz="1000" dirty="0"/>
              <a:t>Replace configure columns and </a:t>
            </a:r>
            <a:r>
              <a:rPr lang="en-GB" sz="1000" dirty="0" err="1"/>
              <a:t>gantt</a:t>
            </a:r>
            <a:r>
              <a:rPr lang="en-GB" sz="1000" dirty="0"/>
              <a:t> settings with a single ‘settings’ button and combine the contents of each</a:t>
            </a:r>
          </a:p>
        </p:txBody>
      </p:sp>
    </p:spTree>
    <p:extLst>
      <p:ext uri="{BB962C8B-B14F-4D97-AF65-F5344CB8AC3E}">
        <p14:creationId xmlns:p14="http://schemas.microsoft.com/office/powerpoint/2010/main" val="3141845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62BA-D9B1-18F7-2632-D2C411A45F6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EED274-BE90-5D53-A583-BB4BE5BB008B}"/>
              </a:ext>
            </a:extLst>
          </p:cNvPr>
          <p:cNvSpPr txBox="1"/>
          <p:nvPr/>
        </p:nvSpPr>
        <p:spPr>
          <a:xfrm>
            <a:off x="298764" y="344032"/>
            <a:ext cx="8899557" cy="1323439"/>
          </a:xfrm>
          <a:prstGeom prst="rect">
            <a:avLst/>
          </a:prstGeom>
          <a:noFill/>
        </p:spPr>
        <p:txBody>
          <a:bodyPr wrap="square" rtlCol="0">
            <a:spAutoFit/>
          </a:bodyPr>
          <a:lstStyle/>
          <a:p>
            <a:r>
              <a:rPr lang="en-GB" sz="1000" dirty="0"/>
              <a:t>Tasks are structured in a hierarchy with no limit to the number of branches.</a:t>
            </a:r>
          </a:p>
          <a:p>
            <a:r>
              <a:rPr lang="en-GB" sz="1000" dirty="0"/>
              <a:t>Tasks can be moved by selecting the task (check box to the left) and dragging and dropping.</a:t>
            </a:r>
          </a:p>
          <a:p>
            <a:r>
              <a:rPr lang="en-GB" sz="1000" dirty="0"/>
              <a:t>If a parent task is moved, the child tasks must move with it.</a:t>
            </a:r>
          </a:p>
          <a:p>
            <a:r>
              <a:rPr lang="en-GB" sz="1000" dirty="0"/>
              <a:t>If a user selects a parent task, the child tasks should be highlighted but not be active unless the user starts to move the task.</a:t>
            </a:r>
          </a:p>
          <a:p>
            <a:r>
              <a:rPr lang="en-GB" sz="1000" dirty="0"/>
              <a:t>If a parent task is marked completed the child tasks % complete fields should be highlighted, user can hit return to make them also marked as completed</a:t>
            </a:r>
          </a:p>
          <a:p>
            <a:r>
              <a:rPr lang="en-GB" sz="1000" dirty="0"/>
              <a:t>Remove the progress bar on the % complete, only show the number</a:t>
            </a:r>
          </a:p>
          <a:p>
            <a:r>
              <a:rPr lang="en-GB" sz="1000" dirty="0"/>
              <a:t>If a parent task is deleted, user should be asked if the child tasks should also be deleted</a:t>
            </a:r>
          </a:p>
          <a:p>
            <a:r>
              <a:rPr lang="en-GB" sz="1000" dirty="0"/>
              <a:t>Replace the buttons for “configure columns” and “</a:t>
            </a:r>
            <a:r>
              <a:rPr lang="en-GB" sz="1000" dirty="0" err="1"/>
              <a:t>gantt</a:t>
            </a:r>
            <a:r>
              <a:rPr lang="en-GB" sz="1000" dirty="0"/>
              <a:t> settings” with a single ‘settings’ button and combine the contents of each</a:t>
            </a:r>
          </a:p>
        </p:txBody>
      </p:sp>
    </p:spTree>
    <p:extLst>
      <p:ext uri="{BB962C8B-B14F-4D97-AF65-F5344CB8AC3E}">
        <p14:creationId xmlns:p14="http://schemas.microsoft.com/office/powerpoint/2010/main" val="2317405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79F1-2A28-59E9-F5C0-E2BBD0917C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87972A-7EB0-F5FE-D899-F973E5BB0F5D}"/>
              </a:ext>
            </a:extLst>
          </p:cNvPr>
          <p:cNvSpPr txBox="1"/>
          <p:nvPr/>
        </p:nvSpPr>
        <p:spPr>
          <a:xfrm>
            <a:off x="706170" y="307818"/>
            <a:ext cx="11190083" cy="707886"/>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This is the Lyra Landing page</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Replicate exactly</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Login button to navigate to the home screen</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B06EED04-DB33-4286-BB19-7CC4828983D1}"/>
              </a:ext>
            </a:extLst>
          </p:cNvPr>
          <p:cNvPicPr>
            <a:picLocks noChangeAspect="1"/>
          </p:cNvPicPr>
          <p:nvPr/>
        </p:nvPicPr>
        <p:blipFill>
          <a:blip r:embed="rId2"/>
          <a:stretch>
            <a:fillRect/>
          </a:stretch>
        </p:blipFill>
        <p:spPr>
          <a:xfrm>
            <a:off x="4849091" y="0"/>
            <a:ext cx="2493818" cy="6858000"/>
          </a:xfrm>
          <a:prstGeom prst="rect">
            <a:avLst/>
          </a:prstGeom>
        </p:spPr>
      </p:pic>
    </p:spTree>
    <p:extLst>
      <p:ext uri="{BB962C8B-B14F-4D97-AF65-F5344CB8AC3E}">
        <p14:creationId xmlns:p14="http://schemas.microsoft.com/office/powerpoint/2010/main" val="3236543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F690-5994-11C0-CF8B-B88B363BFD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1A6475-BBA5-78FB-0404-6C4035460196}"/>
              </a:ext>
            </a:extLst>
          </p:cNvPr>
          <p:cNvSpPr txBox="1"/>
          <p:nvPr/>
        </p:nvSpPr>
        <p:spPr>
          <a:xfrm>
            <a:off x="706170" y="307818"/>
            <a:ext cx="6672404" cy="1169551"/>
          </a:xfrm>
          <a:prstGeom prst="rect">
            <a:avLst/>
          </a:prstGeom>
          <a:noFill/>
        </p:spPr>
        <p:txBody>
          <a:bodyPr wrap="square" rtlCol="0">
            <a:spAutoFit/>
          </a:bodyPr>
          <a:lstStyle/>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home screen</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Navigation panel at top. Add ‘Home’ to the first of the options on the navigation panel and have this persist on every screen</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On the home screen, under the navigation panel is a hierarchical tree structure of projects user has access to. User can switch to an alphabetical list.</a:t>
            </a:r>
          </a:p>
          <a:p>
            <a:pPr marL="171450" indent="-1714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Keep formatting, look and feel of the screen shot opposite </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0EFA060A-CE2D-C21A-C5F9-9DF1958F0E06}"/>
              </a:ext>
            </a:extLst>
          </p:cNvPr>
          <p:cNvPicPr>
            <a:picLocks noChangeAspect="1"/>
          </p:cNvPicPr>
          <p:nvPr/>
        </p:nvPicPr>
        <p:blipFill>
          <a:blip r:embed="rId2"/>
          <a:stretch>
            <a:fillRect/>
          </a:stretch>
        </p:blipFill>
        <p:spPr>
          <a:xfrm>
            <a:off x="8542905" y="0"/>
            <a:ext cx="2493818" cy="6858000"/>
          </a:xfrm>
          <a:prstGeom prst="rect">
            <a:avLst/>
          </a:prstGeom>
        </p:spPr>
      </p:pic>
    </p:spTree>
    <p:extLst>
      <p:ext uri="{BB962C8B-B14F-4D97-AF65-F5344CB8AC3E}">
        <p14:creationId xmlns:p14="http://schemas.microsoft.com/office/powerpoint/2010/main" val="2363798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9A1AE-FBC8-B6CA-6A00-B959CDBED1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4058CB-D635-5F2F-043A-31BA1AFBB046}"/>
              </a:ext>
            </a:extLst>
          </p:cNvPr>
          <p:cNvSpPr txBox="1"/>
          <p:nvPr/>
        </p:nvSpPr>
        <p:spPr>
          <a:xfrm>
            <a:off x="706171" y="307818"/>
            <a:ext cx="5278994" cy="861774"/>
          </a:xfrm>
          <a:prstGeom prst="rect">
            <a:avLst/>
          </a:prstGeom>
          <a:noFill/>
        </p:spPr>
        <p:txBody>
          <a:bodyPr wrap="square" rtlCol="0">
            <a:spAutoFit/>
          </a:bodyPr>
          <a:lstStyle/>
          <a:p>
            <a:r>
              <a:rPr lang="en-GB" sz="1000" dirty="0">
                <a:latin typeface="Calibri" panose="020F0502020204030204" pitchFamily="34" charset="0"/>
                <a:ea typeface="Calibri" panose="020F0502020204030204" pitchFamily="34" charset="0"/>
                <a:cs typeface="Calibri" panose="020F0502020204030204" pitchFamily="34" charset="0"/>
              </a:rPr>
              <a:t>Entire app</a:t>
            </a:r>
          </a:p>
          <a:p>
            <a:r>
              <a:rPr lang="en-GB" sz="1000" dirty="0">
                <a:latin typeface="Calibri" panose="020F0502020204030204" pitchFamily="34" charset="0"/>
                <a:ea typeface="Calibri" panose="020F0502020204030204" pitchFamily="34" charset="0"/>
                <a:cs typeface="Calibri" panose="020F0502020204030204" pitchFamily="34" charset="0"/>
              </a:rPr>
              <a:t>Use this colour scheme, look and feel throughout.</a:t>
            </a:r>
          </a:p>
          <a:p>
            <a:r>
              <a:rPr lang="en-GB" sz="1000" dirty="0">
                <a:latin typeface="Calibri" panose="020F0502020204030204" pitchFamily="34" charset="0"/>
                <a:ea typeface="Calibri" panose="020F0502020204030204" pitchFamily="34" charset="0"/>
                <a:cs typeface="Calibri" panose="020F0502020204030204" pitchFamily="34" charset="0"/>
              </a:rPr>
              <a:t>Keep the existing screen structures but replace the branding fonts and colours with these </a:t>
            </a:r>
          </a:p>
          <a:p>
            <a:r>
              <a:rPr lang="en-GB" sz="1000" dirty="0">
                <a:latin typeface="Calibri" panose="020F0502020204030204" pitchFamily="34" charset="0"/>
                <a:ea typeface="Calibri" panose="020F0502020204030204" pitchFamily="34" charset="0"/>
                <a:cs typeface="Calibri" panose="020F0502020204030204" pitchFamily="34" charset="0"/>
              </a:rPr>
              <a:t>All fonts throughout Lyra must use the fonts and colours from the screenshots only</a:t>
            </a:r>
          </a:p>
          <a:p>
            <a:endParaRPr lang="en-GB" sz="10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E66FE66-FA17-C282-BD89-FE24E9D91C1F}"/>
              </a:ext>
            </a:extLst>
          </p:cNvPr>
          <p:cNvPicPr>
            <a:picLocks noChangeAspect="1"/>
          </p:cNvPicPr>
          <p:nvPr/>
        </p:nvPicPr>
        <p:blipFill>
          <a:blip r:embed="rId2"/>
          <a:stretch>
            <a:fillRect/>
          </a:stretch>
        </p:blipFill>
        <p:spPr>
          <a:xfrm>
            <a:off x="7359535" y="0"/>
            <a:ext cx="2493818" cy="6858000"/>
          </a:xfrm>
          <a:prstGeom prst="rect">
            <a:avLst/>
          </a:prstGeom>
        </p:spPr>
      </p:pic>
      <p:pic>
        <p:nvPicPr>
          <p:cNvPr id="3" name="Picture 2">
            <a:extLst>
              <a:ext uri="{FF2B5EF4-FFF2-40B4-BE49-F238E27FC236}">
                <a16:creationId xmlns:a16="http://schemas.microsoft.com/office/drawing/2014/main" id="{9628AD7E-2801-2865-43A7-35870BCA0A30}"/>
              </a:ext>
            </a:extLst>
          </p:cNvPr>
          <p:cNvPicPr>
            <a:picLocks noChangeAspect="1"/>
          </p:cNvPicPr>
          <p:nvPr/>
        </p:nvPicPr>
        <p:blipFill>
          <a:blip r:embed="rId3"/>
          <a:stretch>
            <a:fillRect/>
          </a:stretch>
        </p:blipFill>
        <p:spPr>
          <a:xfrm>
            <a:off x="1252645" y="1736947"/>
            <a:ext cx="2172003" cy="1981477"/>
          </a:xfrm>
          <a:prstGeom prst="rect">
            <a:avLst/>
          </a:prstGeom>
        </p:spPr>
      </p:pic>
    </p:spTree>
    <p:extLst>
      <p:ext uri="{BB962C8B-B14F-4D97-AF65-F5344CB8AC3E}">
        <p14:creationId xmlns:p14="http://schemas.microsoft.com/office/powerpoint/2010/main" val="163355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46B4-F3F7-9B08-70E4-FC6124C8AE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8383EA-E9CC-5608-F411-30E331E533D8}"/>
              </a:ext>
            </a:extLst>
          </p:cNvPr>
          <p:cNvSpPr txBox="1"/>
          <p:nvPr/>
        </p:nvSpPr>
        <p:spPr>
          <a:xfrm>
            <a:off x="416926" y="315884"/>
            <a:ext cx="4437707" cy="369332"/>
          </a:xfrm>
          <a:prstGeom prst="rect">
            <a:avLst/>
          </a:prstGeom>
          <a:noFill/>
        </p:spPr>
        <p:txBody>
          <a:bodyPr wrap="square" rtlCol="0">
            <a:spAutoFit/>
          </a:bodyPr>
          <a:lstStyle/>
          <a:p>
            <a:r>
              <a:rPr lang="en-GB" dirty="0"/>
              <a:t>Report screen changes</a:t>
            </a:r>
          </a:p>
        </p:txBody>
      </p:sp>
      <p:sp>
        <p:nvSpPr>
          <p:cNvPr id="4" name="TextBox 3">
            <a:extLst>
              <a:ext uri="{FF2B5EF4-FFF2-40B4-BE49-F238E27FC236}">
                <a16:creationId xmlns:a16="http://schemas.microsoft.com/office/drawing/2014/main" id="{802899FE-1ED6-EA94-E301-851926518EC8}"/>
              </a:ext>
            </a:extLst>
          </p:cNvPr>
          <p:cNvSpPr txBox="1"/>
          <p:nvPr/>
        </p:nvSpPr>
        <p:spPr>
          <a:xfrm>
            <a:off x="694606" y="4631790"/>
            <a:ext cx="3744017" cy="646331"/>
          </a:xfrm>
          <a:prstGeom prst="rect">
            <a:avLst/>
          </a:prstGeom>
          <a:noFill/>
        </p:spPr>
        <p:txBody>
          <a:bodyPr wrap="square" rtlCol="0">
            <a:spAutoFit/>
          </a:bodyPr>
          <a:lstStyle/>
          <a:p>
            <a:r>
              <a:rPr lang="en-GB" dirty="0"/>
              <a:t>1. User clicks on drop down and sees all columns set up in plan</a:t>
            </a:r>
          </a:p>
        </p:txBody>
      </p:sp>
      <p:sp>
        <p:nvSpPr>
          <p:cNvPr id="20" name="TextBox 19">
            <a:extLst>
              <a:ext uri="{FF2B5EF4-FFF2-40B4-BE49-F238E27FC236}">
                <a16:creationId xmlns:a16="http://schemas.microsoft.com/office/drawing/2014/main" id="{CD41F8B1-32FD-E9F7-62C2-A4F01260A587}"/>
              </a:ext>
            </a:extLst>
          </p:cNvPr>
          <p:cNvSpPr txBox="1"/>
          <p:nvPr/>
        </p:nvSpPr>
        <p:spPr>
          <a:xfrm>
            <a:off x="4086559" y="2568143"/>
            <a:ext cx="2272420" cy="369332"/>
          </a:xfrm>
          <a:prstGeom prst="rect">
            <a:avLst/>
          </a:prstGeom>
          <a:noFill/>
        </p:spPr>
        <p:txBody>
          <a:bodyPr wrap="square" rtlCol="0">
            <a:spAutoFit/>
          </a:bodyPr>
          <a:lstStyle/>
          <a:p>
            <a:r>
              <a:rPr lang="en-GB" dirty="0"/>
              <a:t>Gantt Filter</a:t>
            </a:r>
          </a:p>
        </p:txBody>
      </p:sp>
      <p:cxnSp>
        <p:nvCxnSpPr>
          <p:cNvPr id="22" name="Straight Arrow Connector 21">
            <a:extLst>
              <a:ext uri="{FF2B5EF4-FFF2-40B4-BE49-F238E27FC236}">
                <a16:creationId xmlns:a16="http://schemas.microsoft.com/office/drawing/2014/main" id="{3BFE00DC-B482-A743-0D6F-8D246B094CB0}"/>
              </a:ext>
            </a:extLst>
          </p:cNvPr>
          <p:cNvCxnSpPr>
            <a:cxnSpLocks/>
          </p:cNvCxnSpPr>
          <p:nvPr/>
        </p:nvCxnSpPr>
        <p:spPr>
          <a:xfrm flipV="1">
            <a:off x="3476667" y="3494638"/>
            <a:ext cx="609892" cy="1047442"/>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90C7B96B-9178-4C47-FD5F-B952C74BA09A}"/>
              </a:ext>
            </a:extLst>
          </p:cNvPr>
          <p:cNvGrpSpPr/>
          <p:nvPr/>
        </p:nvGrpSpPr>
        <p:grpSpPr>
          <a:xfrm>
            <a:off x="4104743" y="2902471"/>
            <a:ext cx="7392651" cy="3279218"/>
            <a:chOff x="2635779" y="2822816"/>
            <a:chExt cx="7392651" cy="3279218"/>
          </a:xfrm>
        </p:grpSpPr>
        <p:grpSp>
          <p:nvGrpSpPr>
            <p:cNvPr id="6" name="Group 5">
              <a:extLst>
                <a:ext uri="{FF2B5EF4-FFF2-40B4-BE49-F238E27FC236}">
                  <a16:creationId xmlns:a16="http://schemas.microsoft.com/office/drawing/2014/main" id="{AA5FF803-A91C-25CC-7CDD-E62915A86CC6}"/>
                </a:ext>
              </a:extLst>
            </p:cNvPr>
            <p:cNvGrpSpPr/>
            <p:nvPr/>
          </p:nvGrpSpPr>
          <p:grpSpPr>
            <a:xfrm>
              <a:off x="2635779" y="2822816"/>
              <a:ext cx="7392651" cy="3279218"/>
              <a:chOff x="2635779" y="2822816"/>
              <a:chExt cx="7392651" cy="3279218"/>
            </a:xfrm>
          </p:grpSpPr>
          <p:sp>
            <p:nvSpPr>
              <p:cNvPr id="7" name="Freeform: Shape 6">
                <a:extLst>
                  <a:ext uri="{FF2B5EF4-FFF2-40B4-BE49-F238E27FC236}">
                    <a16:creationId xmlns:a16="http://schemas.microsoft.com/office/drawing/2014/main" id="{1842246A-DB0D-450D-3049-23A89A3877C4}"/>
                  </a:ext>
                </a:extLst>
              </p:cNvPr>
              <p:cNvSpPr/>
              <p:nvPr/>
            </p:nvSpPr>
            <p:spPr>
              <a:xfrm>
                <a:off x="2635779" y="2830181"/>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Select column</a:t>
                </a:r>
              </a:p>
            </p:txBody>
          </p:sp>
          <p:sp>
            <p:nvSpPr>
              <p:cNvPr id="8" name="Freeform: Shape 7">
                <a:extLst>
                  <a:ext uri="{FF2B5EF4-FFF2-40B4-BE49-F238E27FC236}">
                    <a16:creationId xmlns:a16="http://schemas.microsoft.com/office/drawing/2014/main" id="{C4F0EAFC-FCAF-3565-BDB4-C4AE18597C1A}"/>
                  </a:ext>
                </a:extLst>
              </p:cNvPr>
              <p:cNvSpPr/>
              <p:nvPr/>
            </p:nvSpPr>
            <p:spPr>
              <a:xfrm rot="21566179">
                <a:off x="4591879" y="3298851"/>
                <a:ext cx="748612" cy="33354"/>
              </a:xfrm>
              <a:custGeom>
                <a:avLst/>
                <a:gdLst>
                  <a:gd name="csX0" fmla="*/ 0 w 748612"/>
                  <a:gd name="csY0" fmla="*/ 16677 h 33354"/>
                  <a:gd name="csX1" fmla="*/ 748612 w 748612"/>
                  <a:gd name="csY1" fmla="*/ 16677 h 33354"/>
                </a:gdLst>
                <a:ahLst/>
                <a:cxnLst>
                  <a:cxn ang="0">
                    <a:pos x="csX0" y="csY0"/>
                  </a:cxn>
                  <a:cxn ang="0">
                    <a:pos x="csX1" y="csY1"/>
                  </a:cxn>
                </a:cxnLst>
                <a:rect l="l" t="t" r="r" b="b"/>
                <a:pathLst>
                  <a:path w="748612" h="33354">
                    <a:moveTo>
                      <a:pt x="0" y="16677"/>
                    </a:moveTo>
                    <a:lnTo>
                      <a:pt x="748612"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68290" tIns="-2038" rIns="368291" bIns="-2039"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9" name="Freeform: Shape 8">
                <a:extLst>
                  <a:ext uri="{FF2B5EF4-FFF2-40B4-BE49-F238E27FC236}">
                    <a16:creationId xmlns:a16="http://schemas.microsoft.com/office/drawing/2014/main" id="{4B4968A7-7A64-1E34-8B7C-5F9D453EA2C3}"/>
                  </a:ext>
                </a:extLst>
              </p:cNvPr>
              <p:cNvSpPr/>
              <p:nvPr/>
            </p:nvSpPr>
            <p:spPr>
              <a:xfrm>
                <a:off x="5340474" y="282281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a:t>
                </a:r>
              </a:p>
            </p:txBody>
          </p:sp>
          <p:sp>
            <p:nvSpPr>
              <p:cNvPr id="10" name="Freeform: Shape 9">
                <a:extLst>
                  <a:ext uri="{FF2B5EF4-FFF2-40B4-BE49-F238E27FC236}">
                    <a16:creationId xmlns:a16="http://schemas.microsoft.com/office/drawing/2014/main" id="{47F8B691-1222-F6D9-BC79-682562E4B2E5}"/>
                  </a:ext>
                </a:extLst>
              </p:cNvPr>
              <p:cNvSpPr/>
              <p:nvPr/>
            </p:nvSpPr>
            <p:spPr>
              <a:xfrm rot="43">
                <a:off x="7296593" y="3295174"/>
                <a:ext cx="773390" cy="33354"/>
              </a:xfrm>
              <a:custGeom>
                <a:avLst/>
                <a:gdLst>
                  <a:gd name="csX0" fmla="*/ 0 w 773390"/>
                  <a:gd name="csY0" fmla="*/ 16677 h 33354"/>
                  <a:gd name="csX1" fmla="*/ 773390 w 773390"/>
                  <a:gd name="csY1" fmla="*/ 16677 h 33354"/>
                </a:gdLst>
                <a:ahLst/>
                <a:cxnLst>
                  <a:cxn ang="0">
                    <a:pos x="csX0" y="csY0"/>
                  </a:cxn>
                  <a:cxn ang="0">
                    <a:pos x="csX1" y="csY1"/>
                  </a:cxn>
                </a:cxnLst>
                <a:rect l="l" t="t" r="r" b="b"/>
                <a:pathLst>
                  <a:path w="773390" h="33354">
                    <a:moveTo>
                      <a:pt x="0" y="16677"/>
                    </a:moveTo>
                    <a:lnTo>
                      <a:pt x="773390"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80059" tIns="-2658" rIns="380061" bIns="-2658"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3" name="Freeform: Shape 12">
                <a:extLst>
                  <a:ext uri="{FF2B5EF4-FFF2-40B4-BE49-F238E27FC236}">
                    <a16:creationId xmlns:a16="http://schemas.microsoft.com/office/drawing/2014/main" id="{1C34442B-DE36-9D7B-6322-FDC1CA00DA4D}"/>
                  </a:ext>
                </a:extLst>
              </p:cNvPr>
              <p:cNvSpPr/>
              <p:nvPr/>
            </p:nvSpPr>
            <p:spPr>
              <a:xfrm>
                <a:off x="8069984" y="282282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1</a:t>
                </a:r>
              </a:p>
            </p:txBody>
          </p:sp>
          <p:sp>
            <p:nvSpPr>
              <p:cNvPr id="14" name="Freeform: Shape 13">
                <a:extLst>
                  <a:ext uri="{FF2B5EF4-FFF2-40B4-BE49-F238E27FC236}">
                    <a16:creationId xmlns:a16="http://schemas.microsoft.com/office/drawing/2014/main" id="{B71EFF7D-3006-FB54-7255-E90080777AB3}"/>
                  </a:ext>
                </a:extLst>
              </p:cNvPr>
              <p:cNvSpPr/>
              <p:nvPr/>
            </p:nvSpPr>
            <p:spPr>
              <a:xfrm rot="3370353">
                <a:off x="6988659" y="3872209"/>
                <a:ext cx="1389257" cy="33354"/>
              </a:xfrm>
              <a:custGeom>
                <a:avLst/>
                <a:gdLst>
                  <a:gd name="csX0" fmla="*/ 0 w 1389257"/>
                  <a:gd name="csY0" fmla="*/ 16677 h 33354"/>
                  <a:gd name="csX1" fmla="*/ 1389257 w 1389257"/>
                  <a:gd name="csY1" fmla="*/ 16677 h 33354"/>
                </a:gdLst>
                <a:ahLst/>
                <a:cxnLst>
                  <a:cxn ang="0">
                    <a:pos x="csX0" y="csY0"/>
                  </a:cxn>
                  <a:cxn ang="0">
                    <a:pos x="csX1" y="csY1"/>
                  </a:cxn>
                </a:cxnLst>
                <a:rect l="l" t="t" r="r" b="b"/>
                <a:pathLst>
                  <a:path w="1389257" h="33354">
                    <a:moveTo>
                      <a:pt x="0" y="16677"/>
                    </a:moveTo>
                    <a:lnTo>
                      <a:pt x="1389257"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72597" tIns="-18055" rIns="672597" bIns="-18054"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5" name="Freeform: Shape 14">
                <a:extLst>
                  <a:ext uri="{FF2B5EF4-FFF2-40B4-BE49-F238E27FC236}">
                    <a16:creationId xmlns:a16="http://schemas.microsoft.com/office/drawing/2014/main" id="{E1DD15E7-2A2F-F7C3-92FE-839C6D1684FB}"/>
                  </a:ext>
                </a:extLst>
              </p:cNvPr>
              <p:cNvSpPr/>
              <p:nvPr/>
            </p:nvSpPr>
            <p:spPr>
              <a:xfrm>
                <a:off x="8069984" y="3976897"/>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2</a:t>
                </a:r>
              </a:p>
            </p:txBody>
          </p:sp>
          <p:sp>
            <p:nvSpPr>
              <p:cNvPr id="16" name="Freeform: Shape 15">
                <a:extLst>
                  <a:ext uri="{FF2B5EF4-FFF2-40B4-BE49-F238E27FC236}">
                    <a16:creationId xmlns:a16="http://schemas.microsoft.com/office/drawing/2014/main" id="{492045B4-A487-143F-2689-0F894FE2B98E}"/>
                  </a:ext>
                </a:extLst>
              </p:cNvPr>
              <p:cNvSpPr/>
              <p:nvPr/>
            </p:nvSpPr>
            <p:spPr>
              <a:xfrm rot="4282265">
                <a:off x="6470258" y="4445748"/>
                <a:ext cx="2428388" cy="33354"/>
              </a:xfrm>
              <a:custGeom>
                <a:avLst/>
                <a:gdLst>
                  <a:gd name="csX0" fmla="*/ 0 w 2428388"/>
                  <a:gd name="csY0" fmla="*/ 16677 h 33354"/>
                  <a:gd name="csX1" fmla="*/ 2428388 w 2428388"/>
                  <a:gd name="csY1" fmla="*/ 16677 h 33354"/>
                </a:gdLst>
                <a:ahLst/>
                <a:cxnLst>
                  <a:cxn ang="0">
                    <a:pos x="csX0" y="csY0"/>
                  </a:cxn>
                  <a:cxn ang="0">
                    <a:pos x="csX1" y="csY1"/>
                  </a:cxn>
                </a:cxnLst>
                <a:rect l="l" t="t" r="r" b="b"/>
                <a:pathLst>
                  <a:path w="2428388" h="33354">
                    <a:moveTo>
                      <a:pt x="0" y="16677"/>
                    </a:moveTo>
                    <a:lnTo>
                      <a:pt x="2428388"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66184" tIns="-44032" rIns="1166184" bIns="-44034" numCol="1" spcCol="1270" anchor="ctr" anchorCtr="0">
                <a:noAutofit/>
              </a:bodyPr>
              <a:lstStyle/>
              <a:p>
                <a:pPr marL="0" lvl="0" indent="0" algn="ctr" defTabSz="355600">
                  <a:lnSpc>
                    <a:spcPct val="90000"/>
                  </a:lnSpc>
                  <a:spcBef>
                    <a:spcPct val="0"/>
                  </a:spcBef>
                  <a:spcAft>
                    <a:spcPct val="35000"/>
                  </a:spcAft>
                  <a:buNone/>
                </a:pPr>
                <a:endParaRPr lang="en-GB" sz="800" kern="1200"/>
              </a:p>
            </p:txBody>
          </p:sp>
          <p:sp>
            <p:nvSpPr>
              <p:cNvPr id="17" name="Freeform: Shape 16">
                <a:extLst>
                  <a:ext uri="{FF2B5EF4-FFF2-40B4-BE49-F238E27FC236}">
                    <a16:creationId xmlns:a16="http://schemas.microsoft.com/office/drawing/2014/main" id="{6F761893-115A-6C3B-F255-34BED2187403}"/>
                  </a:ext>
                </a:extLst>
              </p:cNvPr>
              <p:cNvSpPr/>
              <p:nvPr/>
            </p:nvSpPr>
            <p:spPr>
              <a:xfrm>
                <a:off x="8072311" y="512397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n</a:t>
                </a:r>
              </a:p>
            </p:txBody>
          </p:sp>
          <p:sp>
            <p:nvSpPr>
              <p:cNvPr id="18" name="Freeform: Shape 17">
                <a:extLst>
                  <a:ext uri="{FF2B5EF4-FFF2-40B4-BE49-F238E27FC236}">
                    <a16:creationId xmlns:a16="http://schemas.microsoft.com/office/drawing/2014/main" id="{486925CE-FA00-20BD-147E-C6BF87468510}"/>
                  </a:ext>
                </a:extLst>
              </p:cNvPr>
              <p:cNvSpPr/>
              <p:nvPr/>
            </p:nvSpPr>
            <p:spPr>
              <a:xfrm rot="3370854">
                <a:off x="4293698" y="3861235"/>
                <a:ext cx="1344974" cy="33354"/>
              </a:xfrm>
              <a:custGeom>
                <a:avLst/>
                <a:gdLst>
                  <a:gd name="csX0" fmla="*/ 0 w 1344974"/>
                  <a:gd name="csY0" fmla="*/ 16677 h 33354"/>
                  <a:gd name="csX1" fmla="*/ 1344974 w 1344974"/>
                  <a:gd name="csY1" fmla="*/ 16677 h 33354"/>
                </a:gdLst>
                <a:ahLst/>
                <a:cxnLst>
                  <a:cxn ang="0">
                    <a:pos x="csX0" y="csY0"/>
                  </a:cxn>
                  <a:cxn ang="0">
                    <a:pos x="csX1" y="csY1"/>
                  </a:cxn>
                </a:cxnLst>
                <a:rect l="l" t="t" r="r" b="b"/>
                <a:pathLst>
                  <a:path w="1344974" h="33354">
                    <a:moveTo>
                      <a:pt x="0" y="16677"/>
                    </a:moveTo>
                    <a:lnTo>
                      <a:pt x="1344974"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51563" tIns="-16947" rIns="651562" bIns="-16947"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9" name="Freeform: Shape 18">
                <a:extLst>
                  <a:ext uri="{FF2B5EF4-FFF2-40B4-BE49-F238E27FC236}">
                    <a16:creationId xmlns:a16="http://schemas.microsoft.com/office/drawing/2014/main" id="{94FA5162-615F-66C0-7C57-BAE642F7AA4A}"/>
                  </a:ext>
                </a:extLst>
              </p:cNvPr>
              <p:cNvSpPr/>
              <p:nvPr/>
            </p:nvSpPr>
            <p:spPr>
              <a:xfrm>
                <a:off x="5340474" y="394758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Project</a:t>
                </a:r>
              </a:p>
            </p:txBody>
          </p:sp>
        </p:grpSp>
        <p:sp>
          <p:nvSpPr>
            <p:cNvPr id="25" name="Isosceles Triangle 24">
              <a:extLst>
                <a:ext uri="{FF2B5EF4-FFF2-40B4-BE49-F238E27FC236}">
                  <a16:creationId xmlns:a16="http://schemas.microsoft.com/office/drawing/2014/main" id="{3F16CEAB-6173-25D3-BF94-37A2CFCD54CE}"/>
                </a:ext>
              </a:extLst>
            </p:cNvPr>
            <p:cNvSpPr/>
            <p:nvPr/>
          </p:nvSpPr>
          <p:spPr>
            <a:xfrm rot="10800000">
              <a:off x="4063085" y="3045102"/>
              <a:ext cx="407405" cy="529651"/>
            </a:xfrm>
            <a:prstGeom prst="triangl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Box 26">
            <a:extLst>
              <a:ext uri="{FF2B5EF4-FFF2-40B4-BE49-F238E27FC236}">
                <a16:creationId xmlns:a16="http://schemas.microsoft.com/office/drawing/2014/main" id="{0E24A77E-BBF8-2FF4-FAC8-412B66EAED9F}"/>
              </a:ext>
            </a:extLst>
          </p:cNvPr>
          <p:cNvSpPr txBox="1"/>
          <p:nvPr/>
        </p:nvSpPr>
        <p:spPr>
          <a:xfrm>
            <a:off x="5244923" y="639503"/>
            <a:ext cx="5677827" cy="1477328"/>
          </a:xfrm>
          <a:prstGeom prst="rect">
            <a:avLst/>
          </a:prstGeom>
          <a:noFill/>
        </p:spPr>
        <p:txBody>
          <a:bodyPr wrap="square" rtlCol="0">
            <a:spAutoFit/>
          </a:bodyPr>
          <a:lstStyle/>
          <a:p>
            <a:r>
              <a:rPr lang="en-GB" dirty="0"/>
              <a:t>2. List of all columns set up in plan appears.  When user hovers on item, contents of column appears for user to select. If many items in list, user clicks on column name </a:t>
            </a:r>
            <a:r>
              <a:rPr lang="en-GB" dirty="0" err="1"/>
              <a:t>e.g</a:t>
            </a:r>
            <a:r>
              <a:rPr lang="en-GB" dirty="0"/>
              <a:t> project and then can search or type project name. can multi select</a:t>
            </a:r>
          </a:p>
        </p:txBody>
      </p:sp>
      <p:cxnSp>
        <p:nvCxnSpPr>
          <p:cNvPr id="28" name="Straight Arrow Connector 27">
            <a:extLst>
              <a:ext uri="{FF2B5EF4-FFF2-40B4-BE49-F238E27FC236}">
                <a16:creationId xmlns:a16="http://schemas.microsoft.com/office/drawing/2014/main" id="{63C17DC0-89B5-19F3-61DA-E800871B4F4C}"/>
              </a:ext>
            </a:extLst>
          </p:cNvPr>
          <p:cNvCxnSpPr>
            <a:cxnSpLocks/>
          </p:cNvCxnSpPr>
          <p:nvPr/>
        </p:nvCxnSpPr>
        <p:spPr>
          <a:xfrm>
            <a:off x="7523430" y="2116831"/>
            <a:ext cx="0" cy="68591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61F84F62-2698-48E8-2569-D997A6DC6FE9}"/>
              </a:ext>
            </a:extLst>
          </p:cNvPr>
          <p:cNvPicPr>
            <a:picLocks noChangeAspect="1"/>
          </p:cNvPicPr>
          <p:nvPr/>
        </p:nvPicPr>
        <p:blipFill>
          <a:blip r:embed="rId2"/>
          <a:stretch>
            <a:fillRect/>
          </a:stretch>
        </p:blipFill>
        <p:spPr>
          <a:xfrm>
            <a:off x="348806" y="853403"/>
            <a:ext cx="3162741" cy="3429479"/>
          </a:xfrm>
          <a:prstGeom prst="rect">
            <a:avLst/>
          </a:prstGeom>
          <a:ln>
            <a:solidFill>
              <a:schemeClr val="bg1">
                <a:lumMod val="65000"/>
              </a:schemeClr>
            </a:solidFill>
          </a:ln>
        </p:spPr>
      </p:pic>
      <p:sp>
        <p:nvSpPr>
          <p:cNvPr id="34" name="Oval 33">
            <a:extLst>
              <a:ext uri="{FF2B5EF4-FFF2-40B4-BE49-F238E27FC236}">
                <a16:creationId xmlns:a16="http://schemas.microsoft.com/office/drawing/2014/main" id="{F9666FAD-2F65-B99E-0411-D12FB77BF855}"/>
              </a:ext>
            </a:extLst>
          </p:cNvPr>
          <p:cNvSpPr/>
          <p:nvPr/>
        </p:nvSpPr>
        <p:spPr>
          <a:xfrm>
            <a:off x="624689" y="2661719"/>
            <a:ext cx="923454" cy="713105"/>
          </a:xfrm>
          <a:prstGeom prst="ellipse">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E6796978-E696-6B2B-C7EC-967970BE3D52}"/>
              </a:ext>
            </a:extLst>
          </p:cNvPr>
          <p:cNvCxnSpPr>
            <a:cxnSpLocks/>
          </p:cNvCxnSpPr>
          <p:nvPr/>
        </p:nvCxnSpPr>
        <p:spPr>
          <a:xfrm flipV="1">
            <a:off x="694606" y="3124756"/>
            <a:ext cx="1021401" cy="2678515"/>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A22A8A4-1D39-235A-7FED-1C8439E1E461}"/>
              </a:ext>
            </a:extLst>
          </p:cNvPr>
          <p:cNvSpPr txBox="1"/>
          <p:nvPr/>
        </p:nvSpPr>
        <p:spPr>
          <a:xfrm>
            <a:off x="267584" y="5837927"/>
            <a:ext cx="3744017" cy="646331"/>
          </a:xfrm>
          <a:prstGeom prst="rect">
            <a:avLst/>
          </a:prstGeom>
          <a:noFill/>
        </p:spPr>
        <p:txBody>
          <a:bodyPr wrap="square" rtlCol="0">
            <a:spAutoFit/>
          </a:bodyPr>
          <a:lstStyle/>
          <a:p>
            <a:r>
              <a:rPr lang="en-GB" dirty="0"/>
              <a:t>This is the equivalent of the list of all the columns </a:t>
            </a:r>
          </a:p>
        </p:txBody>
      </p:sp>
    </p:spTree>
    <p:extLst>
      <p:ext uri="{BB962C8B-B14F-4D97-AF65-F5344CB8AC3E}">
        <p14:creationId xmlns:p14="http://schemas.microsoft.com/office/powerpoint/2010/main" val="1728212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1538</TotalTime>
  <Words>541</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Lyra - amendments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Rebecca Le bredonchel</dc:creator>
  <cp:lastModifiedBy>Rebecca Le bredonchel</cp:lastModifiedBy>
  <cp:revision>8</cp:revision>
  <dcterms:created xsi:type="dcterms:W3CDTF">2026-04-17T17:52:11Z</dcterms:created>
  <dcterms:modified xsi:type="dcterms:W3CDTF">2026-04-19T22:01:56Z</dcterms:modified>
</cp:coreProperties>
</file>