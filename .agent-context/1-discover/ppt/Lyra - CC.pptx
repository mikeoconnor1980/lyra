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6" r:id="rId4"/>
    <p:sldId id="265"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5" autoAdjust="0"/>
    <p:restoredTop sz="94660"/>
  </p:normalViewPr>
  <p:slideViewPr>
    <p:cSldViewPr snapToGrid="0">
      <p:cViewPr varScale="1">
        <p:scale>
          <a:sx n="106" d="100"/>
          <a:sy n="106" d="100"/>
        </p:scale>
        <p:origin x="1116"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4AD4A-4EBB-6ADB-A365-EE7AFD645B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44E975C-D980-AE3B-BB2C-391F5008C6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9359BD5-53D6-B808-38E2-FCE9B3A79255}"/>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5" name="Footer Placeholder 4">
            <a:extLst>
              <a:ext uri="{FF2B5EF4-FFF2-40B4-BE49-F238E27FC236}">
                <a16:creationId xmlns:a16="http://schemas.microsoft.com/office/drawing/2014/main" id="{BD5CBC5F-74D3-E130-7F36-DD0D98423C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D39F37-23D3-9752-F86C-09E71EB9E45D}"/>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2062566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B8BBA-E328-AECE-BA6A-7D6D4A89BB3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C8DAC0-74AC-2FBF-AFFF-47043C3B49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7B2C6D-76D5-BB33-6F58-70DEC92B80A9}"/>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5" name="Footer Placeholder 4">
            <a:extLst>
              <a:ext uri="{FF2B5EF4-FFF2-40B4-BE49-F238E27FC236}">
                <a16:creationId xmlns:a16="http://schemas.microsoft.com/office/drawing/2014/main" id="{28967E11-8C19-7970-A6BC-7DA02BB1F6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F2793DB-815D-8F29-2AA9-82A9CA38EEB7}"/>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1906172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5F0D5-0BDB-15FD-9815-6D0143D486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8AFADD-5DC7-53D3-7A37-4B5BD66EBE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0EE007-7660-A360-2BAB-F6A521929E37}"/>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5" name="Footer Placeholder 4">
            <a:extLst>
              <a:ext uri="{FF2B5EF4-FFF2-40B4-BE49-F238E27FC236}">
                <a16:creationId xmlns:a16="http://schemas.microsoft.com/office/drawing/2014/main" id="{B33D66EF-25DB-451F-2EAA-1A5DAFCDD4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9BA2A4-A5AC-80D5-6B6F-23BAEB0C7B77}"/>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968655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B1FA-D3E2-E3AE-F5CA-31F065E36F0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BA184B6-F231-DF06-A9A2-DDC27BDDCF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85A502-F963-8EEE-0DF9-562A91935D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67DF0E4-FB2F-C7A7-9645-DB40556891DC}"/>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6" name="Footer Placeholder 5">
            <a:extLst>
              <a:ext uri="{FF2B5EF4-FFF2-40B4-BE49-F238E27FC236}">
                <a16:creationId xmlns:a16="http://schemas.microsoft.com/office/drawing/2014/main" id="{F186677A-A2E7-E431-87D2-806A0DF38F5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BD689F4-FFA2-6AE0-9E19-2A7D3E418A52}"/>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861650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EA634-5FB7-E545-4953-5D68C1AFA51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308C17-4D48-DE72-AB2F-FCA0C0096F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60C8C1-2F7D-BC04-697D-E259E6AE85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A4607A6-79AD-83B5-75FD-B9303BE689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00AB47-4103-549A-920C-0FC118F755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E727A17-EBB9-0B60-8402-DCF5C9824512}"/>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8" name="Footer Placeholder 7">
            <a:extLst>
              <a:ext uri="{FF2B5EF4-FFF2-40B4-BE49-F238E27FC236}">
                <a16:creationId xmlns:a16="http://schemas.microsoft.com/office/drawing/2014/main" id="{ECD884E4-FFCF-DBC5-A3E3-1C3FA883090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D860600-4F1C-5869-E23B-8C888AB16D08}"/>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3167743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650F-ABDC-FDFA-A6CD-983234F7918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64AE578-365A-E84A-C4AB-FE120561677C}"/>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4" name="Footer Placeholder 3">
            <a:extLst>
              <a:ext uri="{FF2B5EF4-FFF2-40B4-BE49-F238E27FC236}">
                <a16:creationId xmlns:a16="http://schemas.microsoft.com/office/drawing/2014/main" id="{6F9FB5FC-16F2-2023-0888-D05A4CA4AA0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F8E76C7-CAB1-5FFD-865D-E79649A8A93F}"/>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69633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1B9A5A-5912-72FF-8A96-6C565893B5C2}"/>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3" name="Footer Placeholder 2">
            <a:extLst>
              <a:ext uri="{FF2B5EF4-FFF2-40B4-BE49-F238E27FC236}">
                <a16:creationId xmlns:a16="http://schemas.microsoft.com/office/drawing/2014/main" id="{A4CA5902-E1AC-B68D-9662-70BE38E20A5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A9FEC12-2DD4-83FB-285F-018B97147AFE}"/>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3868015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0DF68-CC8D-B0A1-9B35-D860B2E98D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E344A83-102B-ED7C-84F2-629CF9E14D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7BC9BA5-2CFB-A03C-6071-A347ED6405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2A851F-ACF4-F726-01A5-7E3B8632CD46}"/>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6" name="Footer Placeholder 5">
            <a:extLst>
              <a:ext uri="{FF2B5EF4-FFF2-40B4-BE49-F238E27FC236}">
                <a16:creationId xmlns:a16="http://schemas.microsoft.com/office/drawing/2014/main" id="{69F5796C-0F04-7F19-C388-CFE0D182A1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EF2F31-B6C4-8F50-5D8D-186A1D5DED7F}"/>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3585099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778F0-D8C0-7F3D-61F3-B36BFBD97B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45D9B34-90C3-8366-89A7-32BB707BD7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BD9582C-FC26-B990-3415-081A3E5F1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33AFE0-23E6-EBC1-E4F9-8EDC87FFCCC4}"/>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6" name="Footer Placeholder 5">
            <a:extLst>
              <a:ext uri="{FF2B5EF4-FFF2-40B4-BE49-F238E27FC236}">
                <a16:creationId xmlns:a16="http://schemas.microsoft.com/office/drawing/2014/main" id="{D2190479-6BD7-7447-0D0D-FD8611D20E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31EFD0-3EF8-A89B-B673-310A1C6F38E0}"/>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1340713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0975-0023-EAF1-CE9B-AEF5E686625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08A7D41-FFBF-0F3B-0BB7-6BD302298D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FDCA12-96E4-485A-3379-1038E8282346}"/>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5" name="Footer Placeholder 4">
            <a:extLst>
              <a:ext uri="{FF2B5EF4-FFF2-40B4-BE49-F238E27FC236}">
                <a16:creationId xmlns:a16="http://schemas.microsoft.com/office/drawing/2014/main" id="{FA4538AD-E4C4-9423-585D-21D2B98A2C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2F24D6-F2A6-7721-2DD3-0CF8BE8C5A02}"/>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1688645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133675-13C7-70F6-38C9-4958F23974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ACF152B-A0FD-DDAE-5253-BB1FFAD122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B923621-80A4-0899-B7E8-42207934FB8D}"/>
              </a:ext>
            </a:extLst>
          </p:cNvPr>
          <p:cNvSpPr>
            <a:spLocks noGrp="1"/>
          </p:cNvSpPr>
          <p:nvPr>
            <p:ph type="dt" sz="half" idx="10"/>
          </p:nvPr>
        </p:nvSpPr>
        <p:spPr/>
        <p:txBody>
          <a:bodyPr/>
          <a:lstStyle/>
          <a:p>
            <a:fld id="{18440123-D161-4248-B067-76EA303AF58D}" type="datetimeFigureOut">
              <a:rPr lang="en-GB" smtClean="0"/>
              <a:t>18/04/2026</a:t>
            </a:fld>
            <a:endParaRPr lang="en-GB"/>
          </a:p>
        </p:txBody>
      </p:sp>
      <p:sp>
        <p:nvSpPr>
          <p:cNvPr id="5" name="Footer Placeholder 4">
            <a:extLst>
              <a:ext uri="{FF2B5EF4-FFF2-40B4-BE49-F238E27FC236}">
                <a16:creationId xmlns:a16="http://schemas.microsoft.com/office/drawing/2014/main" id="{55C0AD4E-A3D1-20F6-DA33-2717FDA886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09A57A-1748-48B3-D44D-6CE57DAE86A2}"/>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2983317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3601E9-27EB-77F7-73F1-B0C05E9B3E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9A4690-6F9E-3113-13E1-2D4422B2E4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4E2EDF7-1391-D180-B70C-5160FF97DC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440123-D161-4248-B067-76EA303AF58D}" type="datetimeFigureOut">
              <a:rPr lang="en-GB" smtClean="0"/>
              <a:t>18/04/2026</a:t>
            </a:fld>
            <a:endParaRPr lang="en-GB"/>
          </a:p>
        </p:txBody>
      </p:sp>
      <p:sp>
        <p:nvSpPr>
          <p:cNvPr id="5" name="Footer Placeholder 4">
            <a:extLst>
              <a:ext uri="{FF2B5EF4-FFF2-40B4-BE49-F238E27FC236}">
                <a16:creationId xmlns:a16="http://schemas.microsoft.com/office/drawing/2014/main" id="{7C5AF9D3-3854-440A-BE65-170C6BC442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BEE4E57-1110-3CAA-2308-A414A74E07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097242-0D5B-447A-AED5-468E77E7FB99}" type="slidenum">
              <a:rPr lang="en-GB" smtClean="0"/>
              <a:t>‹#›</a:t>
            </a:fld>
            <a:endParaRPr lang="en-GB"/>
          </a:p>
        </p:txBody>
      </p:sp>
    </p:spTree>
    <p:extLst>
      <p:ext uri="{BB962C8B-B14F-4D97-AF65-F5344CB8AC3E}">
        <p14:creationId xmlns:p14="http://schemas.microsoft.com/office/powerpoint/2010/main" val="662862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2436B-BD85-2FEE-53E3-34A13B4B731F}"/>
              </a:ext>
            </a:extLst>
          </p:cNvPr>
          <p:cNvSpPr>
            <a:spLocks noGrp="1"/>
          </p:cNvSpPr>
          <p:nvPr>
            <p:ph type="ctrTitle"/>
          </p:nvPr>
        </p:nvSpPr>
        <p:spPr/>
        <p:txBody>
          <a:bodyPr/>
          <a:lstStyle/>
          <a:p>
            <a:r>
              <a:rPr lang="en-GB" dirty="0"/>
              <a:t>Lyra - amendments</a:t>
            </a:r>
          </a:p>
        </p:txBody>
      </p:sp>
      <p:sp>
        <p:nvSpPr>
          <p:cNvPr id="3" name="Subtitle 2">
            <a:extLst>
              <a:ext uri="{FF2B5EF4-FFF2-40B4-BE49-F238E27FC236}">
                <a16:creationId xmlns:a16="http://schemas.microsoft.com/office/drawing/2014/main" id="{CB9E9B14-29C5-96E2-92D2-14DF7B981514}"/>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952351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079F1-2A28-59E9-F5C0-E2BBD0917C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187972A-7EB0-F5FE-D899-F973E5BB0F5D}"/>
              </a:ext>
            </a:extLst>
          </p:cNvPr>
          <p:cNvSpPr txBox="1"/>
          <p:nvPr/>
        </p:nvSpPr>
        <p:spPr>
          <a:xfrm>
            <a:off x="706170" y="307818"/>
            <a:ext cx="11190083" cy="707886"/>
          </a:xfrm>
          <a:prstGeom prst="rect">
            <a:avLst/>
          </a:prstGeom>
          <a:noFill/>
        </p:spPr>
        <p:txBody>
          <a:bodyPr wrap="square" rtlCol="0">
            <a:spAutoFit/>
          </a:bodyPr>
          <a:lstStyle/>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This is the Lyra Landing page</a:t>
            </a:r>
          </a:p>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Replicate exactly</a:t>
            </a:r>
          </a:p>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Login button to navigate to the home screen</a:t>
            </a:r>
          </a:p>
          <a:p>
            <a:endParaRPr lang="en-GB" sz="10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B06EED04-DB33-4286-BB19-7CC4828983D1}"/>
              </a:ext>
            </a:extLst>
          </p:cNvPr>
          <p:cNvPicPr>
            <a:picLocks noChangeAspect="1"/>
          </p:cNvPicPr>
          <p:nvPr/>
        </p:nvPicPr>
        <p:blipFill>
          <a:blip r:embed="rId2"/>
          <a:stretch>
            <a:fillRect/>
          </a:stretch>
        </p:blipFill>
        <p:spPr>
          <a:xfrm>
            <a:off x="4849091" y="0"/>
            <a:ext cx="2493818" cy="6858000"/>
          </a:xfrm>
          <a:prstGeom prst="rect">
            <a:avLst/>
          </a:prstGeom>
        </p:spPr>
      </p:pic>
    </p:spTree>
    <p:extLst>
      <p:ext uri="{BB962C8B-B14F-4D97-AF65-F5344CB8AC3E}">
        <p14:creationId xmlns:p14="http://schemas.microsoft.com/office/powerpoint/2010/main" val="3236543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BF690-5994-11C0-CF8B-B88B363BFD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D1A6475-BBA5-78FB-0404-6C4035460196}"/>
              </a:ext>
            </a:extLst>
          </p:cNvPr>
          <p:cNvSpPr txBox="1"/>
          <p:nvPr/>
        </p:nvSpPr>
        <p:spPr>
          <a:xfrm>
            <a:off x="706170" y="307818"/>
            <a:ext cx="6672404" cy="1169551"/>
          </a:xfrm>
          <a:prstGeom prst="rect">
            <a:avLst/>
          </a:prstGeom>
          <a:noFill/>
        </p:spPr>
        <p:txBody>
          <a:bodyPr wrap="square" rtlCol="0">
            <a:spAutoFit/>
          </a:bodyPr>
          <a:lstStyle/>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home screen</a:t>
            </a:r>
          </a:p>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Navigation panel at top. Add ‘Home’ to the first of the options on the navigation panel and have this persist on every screen</a:t>
            </a:r>
          </a:p>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On the home screen, under the navigation panel is a hierarchical tree structure of projects user has access to. User can switch to an alphabetical list.</a:t>
            </a:r>
          </a:p>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Keep formatting, look and feel of the screen shot opposite </a:t>
            </a:r>
          </a:p>
          <a:p>
            <a:endParaRPr lang="en-GB" sz="10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0EFA060A-CE2D-C21A-C5F9-9DF1958F0E06}"/>
              </a:ext>
            </a:extLst>
          </p:cNvPr>
          <p:cNvPicPr>
            <a:picLocks noChangeAspect="1"/>
          </p:cNvPicPr>
          <p:nvPr/>
        </p:nvPicPr>
        <p:blipFill>
          <a:blip r:embed="rId2"/>
          <a:stretch>
            <a:fillRect/>
          </a:stretch>
        </p:blipFill>
        <p:spPr>
          <a:xfrm>
            <a:off x="8542905" y="0"/>
            <a:ext cx="2493818" cy="6858000"/>
          </a:xfrm>
          <a:prstGeom prst="rect">
            <a:avLst/>
          </a:prstGeom>
        </p:spPr>
      </p:pic>
    </p:spTree>
    <p:extLst>
      <p:ext uri="{BB962C8B-B14F-4D97-AF65-F5344CB8AC3E}">
        <p14:creationId xmlns:p14="http://schemas.microsoft.com/office/powerpoint/2010/main" val="2363798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9A1AE-FBC8-B6CA-6A00-B959CDBED1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4058CB-D635-5F2F-043A-31BA1AFBB046}"/>
              </a:ext>
            </a:extLst>
          </p:cNvPr>
          <p:cNvSpPr txBox="1"/>
          <p:nvPr/>
        </p:nvSpPr>
        <p:spPr>
          <a:xfrm>
            <a:off x="706171" y="307818"/>
            <a:ext cx="5278994" cy="861774"/>
          </a:xfrm>
          <a:prstGeom prst="rect">
            <a:avLst/>
          </a:prstGeom>
          <a:noFill/>
        </p:spPr>
        <p:txBody>
          <a:bodyPr wrap="square" rtlCol="0">
            <a:spAutoFit/>
          </a:bodyPr>
          <a:lstStyle/>
          <a:p>
            <a:r>
              <a:rPr lang="en-GB" sz="1000" dirty="0">
                <a:latin typeface="Calibri" panose="020F0502020204030204" pitchFamily="34" charset="0"/>
                <a:ea typeface="Calibri" panose="020F0502020204030204" pitchFamily="34" charset="0"/>
                <a:cs typeface="Calibri" panose="020F0502020204030204" pitchFamily="34" charset="0"/>
              </a:rPr>
              <a:t>Entire app</a:t>
            </a:r>
          </a:p>
          <a:p>
            <a:r>
              <a:rPr lang="en-GB" sz="1000" dirty="0">
                <a:latin typeface="Calibri" panose="020F0502020204030204" pitchFamily="34" charset="0"/>
                <a:ea typeface="Calibri" panose="020F0502020204030204" pitchFamily="34" charset="0"/>
                <a:cs typeface="Calibri" panose="020F0502020204030204" pitchFamily="34" charset="0"/>
              </a:rPr>
              <a:t>Use this colour scheme, look and feel throughout.</a:t>
            </a:r>
          </a:p>
          <a:p>
            <a:r>
              <a:rPr lang="en-GB" sz="1000" dirty="0">
                <a:latin typeface="Calibri" panose="020F0502020204030204" pitchFamily="34" charset="0"/>
                <a:ea typeface="Calibri" panose="020F0502020204030204" pitchFamily="34" charset="0"/>
                <a:cs typeface="Calibri" panose="020F0502020204030204" pitchFamily="34" charset="0"/>
              </a:rPr>
              <a:t>Keep the existing screen structures but replace the branding fonts and colours with these </a:t>
            </a:r>
          </a:p>
          <a:p>
            <a:r>
              <a:rPr lang="en-GB" sz="1000" dirty="0">
                <a:latin typeface="Calibri" panose="020F0502020204030204" pitchFamily="34" charset="0"/>
                <a:ea typeface="Calibri" panose="020F0502020204030204" pitchFamily="34" charset="0"/>
                <a:cs typeface="Calibri" panose="020F0502020204030204" pitchFamily="34" charset="0"/>
              </a:rPr>
              <a:t>All fonts throughout Lyra must use the fonts and colours from the screenshots only</a:t>
            </a:r>
          </a:p>
          <a:p>
            <a:endParaRPr lang="en-GB" sz="10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E66FE66-FA17-C282-BD89-FE24E9D91C1F}"/>
              </a:ext>
            </a:extLst>
          </p:cNvPr>
          <p:cNvPicPr>
            <a:picLocks noChangeAspect="1"/>
          </p:cNvPicPr>
          <p:nvPr/>
        </p:nvPicPr>
        <p:blipFill>
          <a:blip r:embed="rId2"/>
          <a:stretch>
            <a:fillRect/>
          </a:stretch>
        </p:blipFill>
        <p:spPr>
          <a:xfrm>
            <a:off x="7359535" y="0"/>
            <a:ext cx="2493818" cy="6858000"/>
          </a:xfrm>
          <a:prstGeom prst="rect">
            <a:avLst/>
          </a:prstGeom>
        </p:spPr>
      </p:pic>
      <p:pic>
        <p:nvPicPr>
          <p:cNvPr id="3" name="Picture 2">
            <a:extLst>
              <a:ext uri="{FF2B5EF4-FFF2-40B4-BE49-F238E27FC236}">
                <a16:creationId xmlns:a16="http://schemas.microsoft.com/office/drawing/2014/main" id="{9628AD7E-2801-2865-43A7-35870BCA0A30}"/>
              </a:ext>
            </a:extLst>
          </p:cNvPr>
          <p:cNvPicPr>
            <a:picLocks noChangeAspect="1"/>
          </p:cNvPicPr>
          <p:nvPr/>
        </p:nvPicPr>
        <p:blipFill>
          <a:blip r:embed="rId3"/>
          <a:stretch>
            <a:fillRect/>
          </a:stretch>
        </p:blipFill>
        <p:spPr>
          <a:xfrm>
            <a:off x="1252645" y="1736947"/>
            <a:ext cx="2172003" cy="1981477"/>
          </a:xfrm>
          <a:prstGeom prst="rect">
            <a:avLst/>
          </a:prstGeom>
        </p:spPr>
      </p:pic>
    </p:spTree>
    <p:extLst>
      <p:ext uri="{BB962C8B-B14F-4D97-AF65-F5344CB8AC3E}">
        <p14:creationId xmlns:p14="http://schemas.microsoft.com/office/powerpoint/2010/main" val="1633558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846B4-F3F7-9B08-70E4-FC6124C8AE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8383EA-E9CC-5608-F411-30E331E533D8}"/>
              </a:ext>
            </a:extLst>
          </p:cNvPr>
          <p:cNvSpPr txBox="1"/>
          <p:nvPr/>
        </p:nvSpPr>
        <p:spPr>
          <a:xfrm>
            <a:off x="416926" y="315884"/>
            <a:ext cx="4437707" cy="369332"/>
          </a:xfrm>
          <a:prstGeom prst="rect">
            <a:avLst/>
          </a:prstGeom>
          <a:noFill/>
        </p:spPr>
        <p:txBody>
          <a:bodyPr wrap="square" rtlCol="0">
            <a:spAutoFit/>
          </a:bodyPr>
          <a:lstStyle/>
          <a:p>
            <a:r>
              <a:rPr lang="en-GB" dirty="0"/>
              <a:t>Report screen changes</a:t>
            </a:r>
          </a:p>
        </p:txBody>
      </p:sp>
      <p:sp>
        <p:nvSpPr>
          <p:cNvPr id="4" name="TextBox 3">
            <a:extLst>
              <a:ext uri="{FF2B5EF4-FFF2-40B4-BE49-F238E27FC236}">
                <a16:creationId xmlns:a16="http://schemas.microsoft.com/office/drawing/2014/main" id="{802899FE-1ED6-EA94-E301-851926518EC8}"/>
              </a:ext>
            </a:extLst>
          </p:cNvPr>
          <p:cNvSpPr txBox="1"/>
          <p:nvPr/>
        </p:nvSpPr>
        <p:spPr>
          <a:xfrm>
            <a:off x="694606" y="4631790"/>
            <a:ext cx="3744017" cy="646331"/>
          </a:xfrm>
          <a:prstGeom prst="rect">
            <a:avLst/>
          </a:prstGeom>
          <a:noFill/>
        </p:spPr>
        <p:txBody>
          <a:bodyPr wrap="square" rtlCol="0">
            <a:spAutoFit/>
          </a:bodyPr>
          <a:lstStyle/>
          <a:p>
            <a:r>
              <a:rPr lang="en-GB" dirty="0"/>
              <a:t>1. User clicks on drop down and sees all columns set up in plan</a:t>
            </a:r>
          </a:p>
        </p:txBody>
      </p:sp>
      <p:sp>
        <p:nvSpPr>
          <p:cNvPr id="20" name="TextBox 19">
            <a:extLst>
              <a:ext uri="{FF2B5EF4-FFF2-40B4-BE49-F238E27FC236}">
                <a16:creationId xmlns:a16="http://schemas.microsoft.com/office/drawing/2014/main" id="{CD41F8B1-32FD-E9F7-62C2-A4F01260A587}"/>
              </a:ext>
            </a:extLst>
          </p:cNvPr>
          <p:cNvSpPr txBox="1"/>
          <p:nvPr/>
        </p:nvSpPr>
        <p:spPr>
          <a:xfrm>
            <a:off x="4086559" y="2568143"/>
            <a:ext cx="2272420" cy="369332"/>
          </a:xfrm>
          <a:prstGeom prst="rect">
            <a:avLst/>
          </a:prstGeom>
          <a:noFill/>
        </p:spPr>
        <p:txBody>
          <a:bodyPr wrap="square" rtlCol="0">
            <a:spAutoFit/>
          </a:bodyPr>
          <a:lstStyle/>
          <a:p>
            <a:r>
              <a:rPr lang="en-GB" dirty="0"/>
              <a:t>Gantt Filter</a:t>
            </a:r>
          </a:p>
        </p:txBody>
      </p:sp>
      <p:cxnSp>
        <p:nvCxnSpPr>
          <p:cNvPr id="22" name="Straight Arrow Connector 21">
            <a:extLst>
              <a:ext uri="{FF2B5EF4-FFF2-40B4-BE49-F238E27FC236}">
                <a16:creationId xmlns:a16="http://schemas.microsoft.com/office/drawing/2014/main" id="{3BFE00DC-B482-A743-0D6F-8D246B094CB0}"/>
              </a:ext>
            </a:extLst>
          </p:cNvPr>
          <p:cNvCxnSpPr>
            <a:cxnSpLocks/>
          </p:cNvCxnSpPr>
          <p:nvPr/>
        </p:nvCxnSpPr>
        <p:spPr>
          <a:xfrm flipV="1">
            <a:off x="3476667" y="3494638"/>
            <a:ext cx="609892" cy="1047442"/>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33" name="Group 32">
            <a:extLst>
              <a:ext uri="{FF2B5EF4-FFF2-40B4-BE49-F238E27FC236}">
                <a16:creationId xmlns:a16="http://schemas.microsoft.com/office/drawing/2014/main" id="{90C7B96B-9178-4C47-FD5F-B952C74BA09A}"/>
              </a:ext>
            </a:extLst>
          </p:cNvPr>
          <p:cNvGrpSpPr/>
          <p:nvPr/>
        </p:nvGrpSpPr>
        <p:grpSpPr>
          <a:xfrm>
            <a:off x="4104743" y="2902471"/>
            <a:ext cx="7392651" cy="3279218"/>
            <a:chOff x="2635779" y="2822816"/>
            <a:chExt cx="7392651" cy="3279218"/>
          </a:xfrm>
        </p:grpSpPr>
        <p:grpSp>
          <p:nvGrpSpPr>
            <p:cNvPr id="6" name="Group 5">
              <a:extLst>
                <a:ext uri="{FF2B5EF4-FFF2-40B4-BE49-F238E27FC236}">
                  <a16:creationId xmlns:a16="http://schemas.microsoft.com/office/drawing/2014/main" id="{AA5FF803-A91C-25CC-7CDD-E62915A86CC6}"/>
                </a:ext>
              </a:extLst>
            </p:cNvPr>
            <p:cNvGrpSpPr/>
            <p:nvPr/>
          </p:nvGrpSpPr>
          <p:grpSpPr>
            <a:xfrm>
              <a:off x="2635779" y="2822816"/>
              <a:ext cx="7392651" cy="3279218"/>
              <a:chOff x="2635779" y="2822816"/>
              <a:chExt cx="7392651" cy="3279218"/>
            </a:xfrm>
          </p:grpSpPr>
          <p:sp>
            <p:nvSpPr>
              <p:cNvPr id="7" name="Freeform: Shape 6">
                <a:extLst>
                  <a:ext uri="{FF2B5EF4-FFF2-40B4-BE49-F238E27FC236}">
                    <a16:creationId xmlns:a16="http://schemas.microsoft.com/office/drawing/2014/main" id="{1842246A-DB0D-450D-3049-23A89A3877C4}"/>
                  </a:ext>
                </a:extLst>
              </p:cNvPr>
              <p:cNvSpPr/>
              <p:nvPr/>
            </p:nvSpPr>
            <p:spPr>
              <a:xfrm>
                <a:off x="2635779" y="2830181"/>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Select column</a:t>
                </a:r>
              </a:p>
            </p:txBody>
          </p:sp>
          <p:sp>
            <p:nvSpPr>
              <p:cNvPr id="8" name="Freeform: Shape 7">
                <a:extLst>
                  <a:ext uri="{FF2B5EF4-FFF2-40B4-BE49-F238E27FC236}">
                    <a16:creationId xmlns:a16="http://schemas.microsoft.com/office/drawing/2014/main" id="{C4F0EAFC-FCAF-3565-BDB4-C4AE18597C1A}"/>
                  </a:ext>
                </a:extLst>
              </p:cNvPr>
              <p:cNvSpPr/>
              <p:nvPr/>
            </p:nvSpPr>
            <p:spPr>
              <a:xfrm rot="21566179">
                <a:off x="4591879" y="3298851"/>
                <a:ext cx="748612" cy="33354"/>
              </a:xfrm>
              <a:custGeom>
                <a:avLst/>
                <a:gdLst>
                  <a:gd name="csX0" fmla="*/ 0 w 748612"/>
                  <a:gd name="csY0" fmla="*/ 16677 h 33354"/>
                  <a:gd name="csX1" fmla="*/ 748612 w 748612"/>
                  <a:gd name="csY1" fmla="*/ 16677 h 33354"/>
                </a:gdLst>
                <a:ahLst/>
                <a:cxnLst>
                  <a:cxn ang="0">
                    <a:pos x="csX0" y="csY0"/>
                  </a:cxn>
                  <a:cxn ang="0">
                    <a:pos x="csX1" y="csY1"/>
                  </a:cxn>
                </a:cxnLst>
                <a:rect l="l" t="t" r="r" b="b"/>
                <a:pathLst>
                  <a:path w="748612" h="33354">
                    <a:moveTo>
                      <a:pt x="0" y="16677"/>
                    </a:moveTo>
                    <a:lnTo>
                      <a:pt x="748612" y="16677"/>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68290" tIns="-2038" rIns="368291" bIns="-2039"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9" name="Freeform: Shape 8">
                <a:extLst>
                  <a:ext uri="{FF2B5EF4-FFF2-40B4-BE49-F238E27FC236}">
                    <a16:creationId xmlns:a16="http://schemas.microsoft.com/office/drawing/2014/main" id="{4B4968A7-7A64-1E34-8B7C-5F9D453EA2C3}"/>
                  </a:ext>
                </a:extLst>
              </p:cNvPr>
              <p:cNvSpPr/>
              <p:nvPr/>
            </p:nvSpPr>
            <p:spPr>
              <a:xfrm>
                <a:off x="5340474" y="2822816"/>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a:t>
                </a:r>
              </a:p>
            </p:txBody>
          </p:sp>
          <p:sp>
            <p:nvSpPr>
              <p:cNvPr id="10" name="Freeform: Shape 9">
                <a:extLst>
                  <a:ext uri="{FF2B5EF4-FFF2-40B4-BE49-F238E27FC236}">
                    <a16:creationId xmlns:a16="http://schemas.microsoft.com/office/drawing/2014/main" id="{47F8B691-1222-F6D9-BC79-682562E4B2E5}"/>
                  </a:ext>
                </a:extLst>
              </p:cNvPr>
              <p:cNvSpPr/>
              <p:nvPr/>
            </p:nvSpPr>
            <p:spPr>
              <a:xfrm rot="43">
                <a:off x="7296593" y="3295174"/>
                <a:ext cx="773390" cy="33354"/>
              </a:xfrm>
              <a:custGeom>
                <a:avLst/>
                <a:gdLst>
                  <a:gd name="csX0" fmla="*/ 0 w 773390"/>
                  <a:gd name="csY0" fmla="*/ 16677 h 33354"/>
                  <a:gd name="csX1" fmla="*/ 773390 w 773390"/>
                  <a:gd name="csY1" fmla="*/ 16677 h 33354"/>
                </a:gdLst>
                <a:ahLst/>
                <a:cxnLst>
                  <a:cxn ang="0">
                    <a:pos x="csX0" y="csY0"/>
                  </a:cxn>
                  <a:cxn ang="0">
                    <a:pos x="csX1" y="csY1"/>
                  </a:cxn>
                </a:cxnLst>
                <a:rect l="l" t="t" r="r" b="b"/>
                <a:pathLst>
                  <a:path w="773390" h="33354">
                    <a:moveTo>
                      <a:pt x="0" y="16677"/>
                    </a:moveTo>
                    <a:lnTo>
                      <a:pt x="773390" y="16677"/>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80059" tIns="-2658" rIns="380061" bIns="-2658"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13" name="Freeform: Shape 12">
                <a:extLst>
                  <a:ext uri="{FF2B5EF4-FFF2-40B4-BE49-F238E27FC236}">
                    <a16:creationId xmlns:a16="http://schemas.microsoft.com/office/drawing/2014/main" id="{1C34442B-DE36-9D7B-6322-FDC1CA00DA4D}"/>
                  </a:ext>
                </a:extLst>
              </p:cNvPr>
              <p:cNvSpPr/>
              <p:nvPr/>
            </p:nvSpPr>
            <p:spPr>
              <a:xfrm>
                <a:off x="8069984" y="2822826"/>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 1</a:t>
                </a:r>
              </a:p>
            </p:txBody>
          </p:sp>
          <p:sp>
            <p:nvSpPr>
              <p:cNvPr id="14" name="Freeform: Shape 13">
                <a:extLst>
                  <a:ext uri="{FF2B5EF4-FFF2-40B4-BE49-F238E27FC236}">
                    <a16:creationId xmlns:a16="http://schemas.microsoft.com/office/drawing/2014/main" id="{B71EFF7D-3006-FB54-7255-E90080777AB3}"/>
                  </a:ext>
                </a:extLst>
              </p:cNvPr>
              <p:cNvSpPr/>
              <p:nvPr/>
            </p:nvSpPr>
            <p:spPr>
              <a:xfrm rot="3370353">
                <a:off x="6988659" y="3872209"/>
                <a:ext cx="1389257" cy="33354"/>
              </a:xfrm>
              <a:custGeom>
                <a:avLst/>
                <a:gdLst>
                  <a:gd name="csX0" fmla="*/ 0 w 1389257"/>
                  <a:gd name="csY0" fmla="*/ 16677 h 33354"/>
                  <a:gd name="csX1" fmla="*/ 1389257 w 1389257"/>
                  <a:gd name="csY1" fmla="*/ 16677 h 33354"/>
                </a:gdLst>
                <a:ahLst/>
                <a:cxnLst>
                  <a:cxn ang="0">
                    <a:pos x="csX0" y="csY0"/>
                  </a:cxn>
                  <a:cxn ang="0">
                    <a:pos x="csX1" y="csY1"/>
                  </a:cxn>
                </a:cxnLst>
                <a:rect l="l" t="t" r="r" b="b"/>
                <a:pathLst>
                  <a:path w="1389257" h="33354">
                    <a:moveTo>
                      <a:pt x="0" y="16677"/>
                    </a:moveTo>
                    <a:lnTo>
                      <a:pt x="1389257" y="16677"/>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72597" tIns="-18055" rIns="672597" bIns="-18054"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15" name="Freeform: Shape 14">
                <a:extLst>
                  <a:ext uri="{FF2B5EF4-FFF2-40B4-BE49-F238E27FC236}">
                    <a16:creationId xmlns:a16="http://schemas.microsoft.com/office/drawing/2014/main" id="{E1DD15E7-2A2F-F7C3-92FE-839C6D1684FB}"/>
                  </a:ext>
                </a:extLst>
              </p:cNvPr>
              <p:cNvSpPr/>
              <p:nvPr/>
            </p:nvSpPr>
            <p:spPr>
              <a:xfrm>
                <a:off x="8069984" y="3976897"/>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 2</a:t>
                </a:r>
              </a:p>
            </p:txBody>
          </p:sp>
          <p:sp>
            <p:nvSpPr>
              <p:cNvPr id="16" name="Freeform: Shape 15">
                <a:extLst>
                  <a:ext uri="{FF2B5EF4-FFF2-40B4-BE49-F238E27FC236}">
                    <a16:creationId xmlns:a16="http://schemas.microsoft.com/office/drawing/2014/main" id="{492045B4-A487-143F-2689-0F894FE2B98E}"/>
                  </a:ext>
                </a:extLst>
              </p:cNvPr>
              <p:cNvSpPr/>
              <p:nvPr/>
            </p:nvSpPr>
            <p:spPr>
              <a:xfrm rot="4282265">
                <a:off x="6470258" y="4445748"/>
                <a:ext cx="2428388" cy="33354"/>
              </a:xfrm>
              <a:custGeom>
                <a:avLst/>
                <a:gdLst>
                  <a:gd name="csX0" fmla="*/ 0 w 2428388"/>
                  <a:gd name="csY0" fmla="*/ 16677 h 33354"/>
                  <a:gd name="csX1" fmla="*/ 2428388 w 2428388"/>
                  <a:gd name="csY1" fmla="*/ 16677 h 33354"/>
                </a:gdLst>
                <a:ahLst/>
                <a:cxnLst>
                  <a:cxn ang="0">
                    <a:pos x="csX0" y="csY0"/>
                  </a:cxn>
                  <a:cxn ang="0">
                    <a:pos x="csX1" y="csY1"/>
                  </a:cxn>
                </a:cxnLst>
                <a:rect l="l" t="t" r="r" b="b"/>
                <a:pathLst>
                  <a:path w="2428388" h="33354">
                    <a:moveTo>
                      <a:pt x="0" y="16677"/>
                    </a:moveTo>
                    <a:lnTo>
                      <a:pt x="2428388" y="16677"/>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66184" tIns="-44032" rIns="1166184" bIns="-44034" numCol="1" spcCol="1270" anchor="ctr" anchorCtr="0">
                <a:noAutofit/>
              </a:bodyPr>
              <a:lstStyle/>
              <a:p>
                <a:pPr marL="0" lvl="0" indent="0" algn="ctr" defTabSz="355600">
                  <a:lnSpc>
                    <a:spcPct val="90000"/>
                  </a:lnSpc>
                  <a:spcBef>
                    <a:spcPct val="0"/>
                  </a:spcBef>
                  <a:spcAft>
                    <a:spcPct val="35000"/>
                  </a:spcAft>
                  <a:buNone/>
                </a:pPr>
                <a:endParaRPr lang="en-GB" sz="800" kern="1200"/>
              </a:p>
            </p:txBody>
          </p:sp>
          <p:sp>
            <p:nvSpPr>
              <p:cNvPr id="17" name="Freeform: Shape 16">
                <a:extLst>
                  <a:ext uri="{FF2B5EF4-FFF2-40B4-BE49-F238E27FC236}">
                    <a16:creationId xmlns:a16="http://schemas.microsoft.com/office/drawing/2014/main" id="{6F761893-115A-6C3B-F255-34BED2187403}"/>
                  </a:ext>
                </a:extLst>
              </p:cNvPr>
              <p:cNvSpPr/>
              <p:nvPr/>
            </p:nvSpPr>
            <p:spPr>
              <a:xfrm>
                <a:off x="8072311" y="5123975"/>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 n</a:t>
                </a:r>
              </a:p>
            </p:txBody>
          </p:sp>
          <p:sp>
            <p:nvSpPr>
              <p:cNvPr id="18" name="Freeform: Shape 17">
                <a:extLst>
                  <a:ext uri="{FF2B5EF4-FFF2-40B4-BE49-F238E27FC236}">
                    <a16:creationId xmlns:a16="http://schemas.microsoft.com/office/drawing/2014/main" id="{486925CE-FA00-20BD-147E-C6BF87468510}"/>
                  </a:ext>
                </a:extLst>
              </p:cNvPr>
              <p:cNvSpPr/>
              <p:nvPr/>
            </p:nvSpPr>
            <p:spPr>
              <a:xfrm rot="3370854">
                <a:off x="4293698" y="3861235"/>
                <a:ext cx="1344974" cy="33354"/>
              </a:xfrm>
              <a:custGeom>
                <a:avLst/>
                <a:gdLst>
                  <a:gd name="csX0" fmla="*/ 0 w 1344974"/>
                  <a:gd name="csY0" fmla="*/ 16677 h 33354"/>
                  <a:gd name="csX1" fmla="*/ 1344974 w 1344974"/>
                  <a:gd name="csY1" fmla="*/ 16677 h 33354"/>
                </a:gdLst>
                <a:ahLst/>
                <a:cxnLst>
                  <a:cxn ang="0">
                    <a:pos x="csX0" y="csY0"/>
                  </a:cxn>
                  <a:cxn ang="0">
                    <a:pos x="csX1" y="csY1"/>
                  </a:cxn>
                </a:cxnLst>
                <a:rect l="l" t="t" r="r" b="b"/>
                <a:pathLst>
                  <a:path w="1344974" h="33354">
                    <a:moveTo>
                      <a:pt x="0" y="16677"/>
                    </a:moveTo>
                    <a:lnTo>
                      <a:pt x="1344974" y="16677"/>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51563" tIns="-16947" rIns="651562" bIns="-16947"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19" name="Freeform: Shape 18">
                <a:extLst>
                  <a:ext uri="{FF2B5EF4-FFF2-40B4-BE49-F238E27FC236}">
                    <a16:creationId xmlns:a16="http://schemas.microsoft.com/office/drawing/2014/main" id="{94FA5162-615F-66C0-7C57-BAE642F7AA4A}"/>
                  </a:ext>
                </a:extLst>
              </p:cNvPr>
              <p:cNvSpPr/>
              <p:nvPr/>
            </p:nvSpPr>
            <p:spPr>
              <a:xfrm>
                <a:off x="5340474" y="3947585"/>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Project</a:t>
                </a:r>
              </a:p>
            </p:txBody>
          </p:sp>
        </p:grpSp>
        <p:sp>
          <p:nvSpPr>
            <p:cNvPr id="25" name="Isosceles Triangle 24">
              <a:extLst>
                <a:ext uri="{FF2B5EF4-FFF2-40B4-BE49-F238E27FC236}">
                  <a16:creationId xmlns:a16="http://schemas.microsoft.com/office/drawing/2014/main" id="{3F16CEAB-6173-25D3-BF94-37A2CFCD54CE}"/>
                </a:ext>
              </a:extLst>
            </p:cNvPr>
            <p:cNvSpPr/>
            <p:nvPr/>
          </p:nvSpPr>
          <p:spPr>
            <a:xfrm rot="10800000">
              <a:off x="4063085" y="3045102"/>
              <a:ext cx="407405" cy="529651"/>
            </a:xfrm>
            <a:prstGeom prst="triangl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7" name="TextBox 26">
            <a:extLst>
              <a:ext uri="{FF2B5EF4-FFF2-40B4-BE49-F238E27FC236}">
                <a16:creationId xmlns:a16="http://schemas.microsoft.com/office/drawing/2014/main" id="{0E24A77E-BBF8-2FF4-FAC8-412B66EAED9F}"/>
              </a:ext>
            </a:extLst>
          </p:cNvPr>
          <p:cNvSpPr txBox="1"/>
          <p:nvPr/>
        </p:nvSpPr>
        <p:spPr>
          <a:xfrm>
            <a:off x="5244923" y="639503"/>
            <a:ext cx="5677827" cy="1477328"/>
          </a:xfrm>
          <a:prstGeom prst="rect">
            <a:avLst/>
          </a:prstGeom>
          <a:noFill/>
        </p:spPr>
        <p:txBody>
          <a:bodyPr wrap="square" rtlCol="0">
            <a:spAutoFit/>
          </a:bodyPr>
          <a:lstStyle/>
          <a:p>
            <a:r>
              <a:rPr lang="en-GB" dirty="0"/>
              <a:t>2. List of all columns set up in plan appears.  When user hovers on item, contents of column appears for user to select. If many items in list, user clicks on column name </a:t>
            </a:r>
            <a:r>
              <a:rPr lang="en-GB" dirty="0" err="1"/>
              <a:t>e.g</a:t>
            </a:r>
            <a:r>
              <a:rPr lang="en-GB" dirty="0"/>
              <a:t> project and then can search or type project name. can multi select</a:t>
            </a:r>
          </a:p>
        </p:txBody>
      </p:sp>
      <p:cxnSp>
        <p:nvCxnSpPr>
          <p:cNvPr id="28" name="Straight Arrow Connector 27">
            <a:extLst>
              <a:ext uri="{FF2B5EF4-FFF2-40B4-BE49-F238E27FC236}">
                <a16:creationId xmlns:a16="http://schemas.microsoft.com/office/drawing/2014/main" id="{63C17DC0-89B5-19F3-61DA-E800871B4F4C}"/>
              </a:ext>
            </a:extLst>
          </p:cNvPr>
          <p:cNvCxnSpPr>
            <a:cxnSpLocks/>
          </p:cNvCxnSpPr>
          <p:nvPr/>
        </p:nvCxnSpPr>
        <p:spPr>
          <a:xfrm>
            <a:off x="7523430" y="2116831"/>
            <a:ext cx="0" cy="685913"/>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61F84F62-2698-48E8-2569-D997A6DC6FE9}"/>
              </a:ext>
            </a:extLst>
          </p:cNvPr>
          <p:cNvPicPr>
            <a:picLocks noChangeAspect="1"/>
          </p:cNvPicPr>
          <p:nvPr/>
        </p:nvPicPr>
        <p:blipFill>
          <a:blip r:embed="rId2"/>
          <a:stretch>
            <a:fillRect/>
          </a:stretch>
        </p:blipFill>
        <p:spPr>
          <a:xfrm>
            <a:off x="348806" y="853403"/>
            <a:ext cx="3162741" cy="3429479"/>
          </a:xfrm>
          <a:prstGeom prst="rect">
            <a:avLst/>
          </a:prstGeom>
          <a:ln>
            <a:solidFill>
              <a:schemeClr val="bg1">
                <a:lumMod val="65000"/>
              </a:schemeClr>
            </a:solidFill>
          </a:ln>
        </p:spPr>
      </p:pic>
      <p:sp>
        <p:nvSpPr>
          <p:cNvPr id="34" name="Oval 33">
            <a:extLst>
              <a:ext uri="{FF2B5EF4-FFF2-40B4-BE49-F238E27FC236}">
                <a16:creationId xmlns:a16="http://schemas.microsoft.com/office/drawing/2014/main" id="{F9666FAD-2F65-B99E-0411-D12FB77BF855}"/>
              </a:ext>
            </a:extLst>
          </p:cNvPr>
          <p:cNvSpPr/>
          <p:nvPr/>
        </p:nvSpPr>
        <p:spPr>
          <a:xfrm>
            <a:off x="624689" y="2661719"/>
            <a:ext cx="923454" cy="713105"/>
          </a:xfrm>
          <a:prstGeom prst="ellipse">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5" name="Straight Arrow Connector 34">
            <a:extLst>
              <a:ext uri="{FF2B5EF4-FFF2-40B4-BE49-F238E27FC236}">
                <a16:creationId xmlns:a16="http://schemas.microsoft.com/office/drawing/2014/main" id="{E6796978-E696-6B2B-C7EC-967970BE3D52}"/>
              </a:ext>
            </a:extLst>
          </p:cNvPr>
          <p:cNvCxnSpPr>
            <a:cxnSpLocks/>
          </p:cNvCxnSpPr>
          <p:nvPr/>
        </p:nvCxnSpPr>
        <p:spPr>
          <a:xfrm flipV="1">
            <a:off x="694606" y="3124756"/>
            <a:ext cx="1021401" cy="2678515"/>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A22A8A4-1D39-235A-7FED-1C8439E1E461}"/>
              </a:ext>
            </a:extLst>
          </p:cNvPr>
          <p:cNvSpPr txBox="1"/>
          <p:nvPr/>
        </p:nvSpPr>
        <p:spPr>
          <a:xfrm>
            <a:off x="267584" y="5837927"/>
            <a:ext cx="3744017" cy="646331"/>
          </a:xfrm>
          <a:prstGeom prst="rect">
            <a:avLst/>
          </a:prstGeom>
          <a:noFill/>
        </p:spPr>
        <p:txBody>
          <a:bodyPr wrap="square" rtlCol="0">
            <a:spAutoFit/>
          </a:bodyPr>
          <a:lstStyle/>
          <a:p>
            <a:r>
              <a:rPr lang="en-GB" dirty="0"/>
              <a:t>This is the equivalent of the list of all the columns </a:t>
            </a:r>
          </a:p>
        </p:txBody>
      </p:sp>
    </p:spTree>
    <p:extLst>
      <p:ext uri="{BB962C8B-B14F-4D97-AF65-F5344CB8AC3E}">
        <p14:creationId xmlns:p14="http://schemas.microsoft.com/office/powerpoint/2010/main" val="17282125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222</Words>
  <Application>Microsoft Office PowerPoint</Application>
  <PresentationFormat>Widescreen</PresentationFormat>
  <Paragraphs>23</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Lyra - amendments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Rebecca Le bredonchel</dc:creator>
  <cp:lastModifiedBy>Rebecca Le bredonchel</cp:lastModifiedBy>
  <cp:revision>6</cp:revision>
  <dcterms:created xsi:type="dcterms:W3CDTF">2026-04-17T17:52:11Z</dcterms:created>
  <dcterms:modified xsi:type="dcterms:W3CDTF">2026-04-18T12:03:53Z</dcterms:modified>
</cp:coreProperties>
</file>